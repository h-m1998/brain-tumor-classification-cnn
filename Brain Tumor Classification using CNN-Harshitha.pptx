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1109AA-9FB3-4D55-946F-C7A369341C7E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C6B63CF-2ABF-4A8E-BBB0-7AD353686C1E}">
      <dgm:prSet/>
      <dgm:spPr/>
      <dgm:t>
        <a:bodyPr/>
        <a:lstStyle/>
        <a:p>
          <a:r>
            <a:rPr lang="en-US" b="1"/>
            <a:t>Who is the customer?</a:t>
          </a:r>
          <a:endParaRPr lang="en-US"/>
        </a:p>
      </dgm:t>
    </dgm:pt>
    <dgm:pt modelId="{778D5F2E-D321-4084-B413-CB5A27648C68}" type="parTrans" cxnId="{B4976519-8895-409A-8C01-9C9503E72CC1}">
      <dgm:prSet/>
      <dgm:spPr/>
      <dgm:t>
        <a:bodyPr/>
        <a:lstStyle/>
        <a:p>
          <a:endParaRPr lang="en-US"/>
        </a:p>
      </dgm:t>
    </dgm:pt>
    <dgm:pt modelId="{8F2ABF0C-6867-4D3A-A88D-FA48D232B6A8}" type="sibTrans" cxnId="{B4976519-8895-409A-8C01-9C9503E72CC1}">
      <dgm:prSet/>
      <dgm:spPr/>
      <dgm:t>
        <a:bodyPr/>
        <a:lstStyle/>
        <a:p>
          <a:endParaRPr lang="en-US"/>
        </a:p>
      </dgm:t>
    </dgm:pt>
    <dgm:pt modelId="{9B21F56F-43AD-46B3-AB13-CE869D07985B}">
      <dgm:prSet/>
      <dgm:spPr/>
      <dgm:t>
        <a:bodyPr/>
        <a:lstStyle/>
        <a:p>
          <a:r>
            <a:rPr lang="en-US"/>
            <a:t>Hospitals &amp; diagnostic centers</a:t>
          </a:r>
        </a:p>
      </dgm:t>
    </dgm:pt>
    <dgm:pt modelId="{D46CC903-F144-4184-9A92-506EED9ADE7C}" type="parTrans" cxnId="{73E5E901-5EAF-44CA-8CE4-A90415815C92}">
      <dgm:prSet/>
      <dgm:spPr/>
      <dgm:t>
        <a:bodyPr/>
        <a:lstStyle/>
        <a:p>
          <a:endParaRPr lang="en-US"/>
        </a:p>
      </dgm:t>
    </dgm:pt>
    <dgm:pt modelId="{EBE8F499-B004-47F7-AD83-DE602B342E65}" type="sibTrans" cxnId="{73E5E901-5EAF-44CA-8CE4-A90415815C92}">
      <dgm:prSet/>
      <dgm:spPr/>
      <dgm:t>
        <a:bodyPr/>
        <a:lstStyle/>
        <a:p>
          <a:endParaRPr lang="en-US"/>
        </a:p>
      </dgm:t>
    </dgm:pt>
    <dgm:pt modelId="{88EFD7E2-F979-4EF0-8A5C-8AB15CC7A2BE}">
      <dgm:prSet/>
      <dgm:spPr/>
      <dgm:t>
        <a:bodyPr/>
        <a:lstStyle/>
        <a:p>
          <a:r>
            <a:rPr lang="en-US"/>
            <a:t>Radiologists &amp; medical imaging teams</a:t>
          </a:r>
        </a:p>
      </dgm:t>
    </dgm:pt>
    <dgm:pt modelId="{1FC2372D-F664-452B-A091-C1A6844816E8}" type="parTrans" cxnId="{FB0E5829-7D8C-4E69-B682-5E061941618C}">
      <dgm:prSet/>
      <dgm:spPr/>
      <dgm:t>
        <a:bodyPr/>
        <a:lstStyle/>
        <a:p>
          <a:endParaRPr lang="en-US"/>
        </a:p>
      </dgm:t>
    </dgm:pt>
    <dgm:pt modelId="{95F178EF-B7C6-44CC-8845-DCE0E5D57173}" type="sibTrans" cxnId="{FB0E5829-7D8C-4E69-B682-5E061941618C}">
      <dgm:prSet/>
      <dgm:spPr/>
      <dgm:t>
        <a:bodyPr/>
        <a:lstStyle/>
        <a:p>
          <a:endParaRPr lang="en-US"/>
        </a:p>
      </dgm:t>
    </dgm:pt>
    <dgm:pt modelId="{D411FAE9-6597-4A5C-8AFD-2B5F78BF28DA}">
      <dgm:prSet/>
      <dgm:spPr/>
      <dgm:t>
        <a:bodyPr/>
        <a:lstStyle/>
        <a:p>
          <a:r>
            <a:rPr lang="en-US"/>
            <a:t>Healthcare administrators</a:t>
          </a:r>
        </a:p>
      </dgm:t>
    </dgm:pt>
    <dgm:pt modelId="{07428C71-73BC-461F-9C29-CF645563E441}" type="parTrans" cxnId="{5730E4C8-07B4-477D-A839-BEF729B0D625}">
      <dgm:prSet/>
      <dgm:spPr/>
      <dgm:t>
        <a:bodyPr/>
        <a:lstStyle/>
        <a:p>
          <a:endParaRPr lang="en-US"/>
        </a:p>
      </dgm:t>
    </dgm:pt>
    <dgm:pt modelId="{B6E932D2-0019-489B-82E7-24B4DFC116C7}" type="sibTrans" cxnId="{5730E4C8-07B4-477D-A839-BEF729B0D625}">
      <dgm:prSet/>
      <dgm:spPr/>
      <dgm:t>
        <a:bodyPr/>
        <a:lstStyle/>
        <a:p>
          <a:endParaRPr lang="en-US"/>
        </a:p>
      </dgm:t>
    </dgm:pt>
    <dgm:pt modelId="{B85493C2-81B9-4FD7-B81D-6264258EC1EB}">
      <dgm:prSet/>
      <dgm:spPr/>
      <dgm:t>
        <a:bodyPr/>
        <a:lstStyle/>
        <a:p>
          <a:r>
            <a:rPr lang="en-US" b="1"/>
            <a:t>Why this problem matters:</a:t>
          </a:r>
          <a:endParaRPr lang="en-US"/>
        </a:p>
      </dgm:t>
    </dgm:pt>
    <dgm:pt modelId="{DBC7574D-1383-4741-BE95-9AC15FDE1D75}" type="parTrans" cxnId="{CCA14869-21FB-42AC-9FA6-82F51B2663E7}">
      <dgm:prSet/>
      <dgm:spPr/>
      <dgm:t>
        <a:bodyPr/>
        <a:lstStyle/>
        <a:p>
          <a:endParaRPr lang="en-US"/>
        </a:p>
      </dgm:t>
    </dgm:pt>
    <dgm:pt modelId="{39D3783D-3580-4A28-A39C-09B36AF17020}" type="sibTrans" cxnId="{CCA14869-21FB-42AC-9FA6-82F51B2663E7}">
      <dgm:prSet/>
      <dgm:spPr/>
      <dgm:t>
        <a:bodyPr/>
        <a:lstStyle/>
        <a:p>
          <a:endParaRPr lang="en-US"/>
        </a:p>
      </dgm:t>
    </dgm:pt>
    <dgm:pt modelId="{B04451E2-0FD7-4841-8E32-7F978FD62FD1}">
      <dgm:prSet/>
      <dgm:spPr/>
      <dgm:t>
        <a:bodyPr/>
        <a:lstStyle/>
        <a:p>
          <a:r>
            <a:rPr lang="en-US"/>
            <a:t>Brain tumors are life-critical and require fast detection</a:t>
          </a:r>
        </a:p>
      </dgm:t>
    </dgm:pt>
    <dgm:pt modelId="{D382E044-5B03-4EC6-ABE7-3C8C244B1F63}" type="parTrans" cxnId="{34384BCE-0933-4069-898D-6EAF21202992}">
      <dgm:prSet/>
      <dgm:spPr/>
      <dgm:t>
        <a:bodyPr/>
        <a:lstStyle/>
        <a:p>
          <a:endParaRPr lang="en-US"/>
        </a:p>
      </dgm:t>
    </dgm:pt>
    <dgm:pt modelId="{F8102D4A-79B1-4CA2-B47F-0F442CF34D31}" type="sibTrans" cxnId="{34384BCE-0933-4069-898D-6EAF21202992}">
      <dgm:prSet/>
      <dgm:spPr/>
      <dgm:t>
        <a:bodyPr/>
        <a:lstStyle/>
        <a:p>
          <a:endParaRPr lang="en-US"/>
        </a:p>
      </dgm:t>
    </dgm:pt>
    <dgm:pt modelId="{3099D90C-A7F9-4C87-BE97-57FF6A9F18BD}">
      <dgm:prSet/>
      <dgm:spPr/>
      <dgm:t>
        <a:bodyPr/>
        <a:lstStyle/>
        <a:p>
          <a:r>
            <a:rPr lang="en-US"/>
            <a:t>Radiologists review hundreds of MRI scans daily → risk of delays and fatigue</a:t>
          </a:r>
        </a:p>
      </dgm:t>
    </dgm:pt>
    <dgm:pt modelId="{35B38235-3863-4B8E-BA87-B36CA3C1A398}" type="parTrans" cxnId="{30790C5E-F4F7-4E32-B76C-63D18701DD9F}">
      <dgm:prSet/>
      <dgm:spPr/>
      <dgm:t>
        <a:bodyPr/>
        <a:lstStyle/>
        <a:p>
          <a:endParaRPr lang="en-US"/>
        </a:p>
      </dgm:t>
    </dgm:pt>
    <dgm:pt modelId="{3A31F71E-E4A0-47F9-B844-F88D99CDFC68}" type="sibTrans" cxnId="{30790C5E-F4F7-4E32-B76C-63D18701DD9F}">
      <dgm:prSet/>
      <dgm:spPr/>
      <dgm:t>
        <a:bodyPr/>
        <a:lstStyle/>
        <a:p>
          <a:endParaRPr lang="en-US"/>
        </a:p>
      </dgm:t>
    </dgm:pt>
    <dgm:pt modelId="{23767A1B-FB77-484D-AB80-DCFB41EEB3C6}">
      <dgm:prSet/>
      <dgm:spPr/>
      <dgm:t>
        <a:bodyPr/>
        <a:lstStyle/>
        <a:p>
          <a:r>
            <a:rPr lang="en-US"/>
            <a:t>Manual review is time-consuming and costly</a:t>
          </a:r>
        </a:p>
      </dgm:t>
    </dgm:pt>
    <dgm:pt modelId="{F04A3B0D-EF8E-48DA-9FB0-6CF190DAE042}" type="parTrans" cxnId="{AE3A80E9-D48A-4C80-A9A5-0099F9261D60}">
      <dgm:prSet/>
      <dgm:spPr/>
      <dgm:t>
        <a:bodyPr/>
        <a:lstStyle/>
        <a:p>
          <a:endParaRPr lang="en-US"/>
        </a:p>
      </dgm:t>
    </dgm:pt>
    <dgm:pt modelId="{AF51806A-FB9C-4007-9463-BA8DE75C5267}" type="sibTrans" cxnId="{AE3A80E9-D48A-4C80-A9A5-0099F9261D60}">
      <dgm:prSet/>
      <dgm:spPr/>
      <dgm:t>
        <a:bodyPr/>
        <a:lstStyle/>
        <a:p>
          <a:endParaRPr lang="en-US"/>
        </a:p>
      </dgm:t>
    </dgm:pt>
    <dgm:pt modelId="{EBFFB0E0-92D6-4646-B399-6D08189AAF36}" type="pres">
      <dgm:prSet presAssocID="{2E1109AA-9FB3-4D55-946F-C7A369341C7E}" presName="linear" presStyleCnt="0">
        <dgm:presLayoutVars>
          <dgm:dir/>
          <dgm:animLvl val="lvl"/>
          <dgm:resizeHandles val="exact"/>
        </dgm:presLayoutVars>
      </dgm:prSet>
      <dgm:spPr/>
    </dgm:pt>
    <dgm:pt modelId="{6AF1500C-C118-415E-A762-9F5083CF55F1}" type="pres">
      <dgm:prSet presAssocID="{CC6B63CF-2ABF-4A8E-BBB0-7AD353686C1E}" presName="parentLin" presStyleCnt="0"/>
      <dgm:spPr/>
    </dgm:pt>
    <dgm:pt modelId="{15F3876B-2881-4C6E-A834-12FDEF55478D}" type="pres">
      <dgm:prSet presAssocID="{CC6B63CF-2ABF-4A8E-BBB0-7AD353686C1E}" presName="parentLeftMargin" presStyleLbl="node1" presStyleIdx="0" presStyleCnt="2"/>
      <dgm:spPr/>
    </dgm:pt>
    <dgm:pt modelId="{8F90F6ED-B954-4DAF-84DF-DE952E77E704}" type="pres">
      <dgm:prSet presAssocID="{CC6B63CF-2ABF-4A8E-BBB0-7AD353686C1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88C8E8F-9500-4855-9680-D25802F23C22}" type="pres">
      <dgm:prSet presAssocID="{CC6B63CF-2ABF-4A8E-BBB0-7AD353686C1E}" presName="negativeSpace" presStyleCnt="0"/>
      <dgm:spPr/>
    </dgm:pt>
    <dgm:pt modelId="{0C41A016-8588-4E3B-9BD9-0F99D17DCA97}" type="pres">
      <dgm:prSet presAssocID="{CC6B63CF-2ABF-4A8E-BBB0-7AD353686C1E}" presName="childText" presStyleLbl="conFgAcc1" presStyleIdx="0" presStyleCnt="2">
        <dgm:presLayoutVars>
          <dgm:bulletEnabled val="1"/>
        </dgm:presLayoutVars>
      </dgm:prSet>
      <dgm:spPr/>
    </dgm:pt>
    <dgm:pt modelId="{66EB6A14-E5DC-4982-8E0A-D50A6FC5AEFD}" type="pres">
      <dgm:prSet presAssocID="{8F2ABF0C-6867-4D3A-A88D-FA48D232B6A8}" presName="spaceBetweenRectangles" presStyleCnt="0"/>
      <dgm:spPr/>
    </dgm:pt>
    <dgm:pt modelId="{8A713A4D-9EA0-4D83-9514-DA8355C0CFF5}" type="pres">
      <dgm:prSet presAssocID="{B85493C2-81B9-4FD7-B81D-6264258EC1EB}" presName="parentLin" presStyleCnt="0"/>
      <dgm:spPr/>
    </dgm:pt>
    <dgm:pt modelId="{13F34F62-8AD4-455C-8DB2-24BB9D45F1EE}" type="pres">
      <dgm:prSet presAssocID="{B85493C2-81B9-4FD7-B81D-6264258EC1EB}" presName="parentLeftMargin" presStyleLbl="node1" presStyleIdx="0" presStyleCnt="2"/>
      <dgm:spPr/>
    </dgm:pt>
    <dgm:pt modelId="{6A9FFC27-D96D-4627-97AC-AD3A56B8D099}" type="pres">
      <dgm:prSet presAssocID="{B85493C2-81B9-4FD7-B81D-6264258EC1E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EC861DD-F2E0-4ECA-9AAD-9C8E4EEA3973}" type="pres">
      <dgm:prSet presAssocID="{B85493C2-81B9-4FD7-B81D-6264258EC1EB}" presName="negativeSpace" presStyleCnt="0"/>
      <dgm:spPr/>
    </dgm:pt>
    <dgm:pt modelId="{FCFFC285-82AC-4BBB-BBB7-F258840A4E4E}" type="pres">
      <dgm:prSet presAssocID="{B85493C2-81B9-4FD7-B81D-6264258EC1EB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73E5E901-5EAF-44CA-8CE4-A90415815C92}" srcId="{CC6B63CF-2ABF-4A8E-BBB0-7AD353686C1E}" destId="{9B21F56F-43AD-46B3-AB13-CE869D07985B}" srcOrd="0" destOrd="0" parTransId="{D46CC903-F144-4184-9A92-506EED9ADE7C}" sibTransId="{EBE8F499-B004-47F7-AD83-DE602B342E65}"/>
    <dgm:cxn modelId="{B4976519-8895-409A-8C01-9C9503E72CC1}" srcId="{2E1109AA-9FB3-4D55-946F-C7A369341C7E}" destId="{CC6B63CF-2ABF-4A8E-BBB0-7AD353686C1E}" srcOrd="0" destOrd="0" parTransId="{778D5F2E-D321-4084-B413-CB5A27648C68}" sibTransId="{8F2ABF0C-6867-4D3A-A88D-FA48D232B6A8}"/>
    <dgm:cxn modelId="{FB0E5829-7D8C-4E69-B682-5E061941618C}" srcId="{CC6B63CF-2ABF-4A8E-BBB0-7AD353686C1E}" destId="{88EFD7E2-F979-4EF0-8A5C-8AB15CC7A2BE}" srcOrd="1" destOrd="0" parTransId="{1FC2372D-F664-452B-A091-C1A6844816E8}" sibTransId="{95F178EF-B7C6-44CC-8845-DCE0E5D57173}"/>
    <dgm:cxn modelId="{EDCFC632-8AD4-4FAE-B0A0-AC66F5DD547C}" type="presOf" srcId="{23767A1B-FB77-484D-AB80-DCFB41EEB3C6}" destId="{FCFFC285-82AC-4BBB-BBB7-F258840A4E4E}" srcOrd="0" destOrd="2" presId="urn:microsoft.com/office/officeart/2005/8/layout/list1"/>
    <dgm:cxn modelId="{59A77636-8BF3-4222-A1A1-6CB70F179079}" type="presOf" srcId="{D411FAE9-6597-4A5C-8AFD-2B5F78BF28DA}" destId="{0C41A016-8588-4E3B-9BD9-0F99D17DCA97}" srcOrd="0" destOrd="2" presId="urn:microsoft.com/office/officeart/2005/8/layout/list1"/>
    <dgm:cxn modelId="{DB5E843E-A6F5-4B6A-A4E8-076681010145}" type="presOf" srcId="{B04451E2-0FD7-4841-8E32-7F978FD62FD1}" destId="{FCFFC285-82AC-4BBB-BBB7-F258840A4E4E}" srcOrd="0" destOrd="0" presId="urn:microsoft.com/office/officeart/2005/8/layout/list1"/>
    <dgm:cxn modelId="{30790C5E-F4F7-4E32-B76C-63D18701DD9F}" srcId="{B85493C2-81B9-4FD7-B81D-6264258EC1EB}" destId="{3099D90C-A7F9-4C87-BE97-57FF6A9F18BD}" srcOrd="1" destOrd="0" parTransId="{35B38235-3863-4B8E-BA87-B36CA3C1A398}" sibTransId="{3A31F71E-E4A0-47F9-B844-F88D99CDFC68}"/>
    <dgm:cxn modelId="{651E4B63-6302-46DB-9E1C-B5813C22C725}" type="presOf" srcId="{CC6B63CF-2ABF-4A8E-BBB0-7AD353686C1E}" destId="{8F90F6ED-B954-4DAF-84DF-DE952E77E704}" srcOrd="1" destOrd="0" presId="urn:microsoft.com/office/officeart/2005/8/layout/list1"/>
    <dgm:cxn modelId="{CCA14869-21FB-42AC-9FA6-82F51B2663E7}" srcId="{2E1109AA-9FB3-4D55-946F-C7A369341C7E}" destId="{B85493C2-81B9-4FD7-B81D-6264258EC1EB}" srcOrd="1" destOrd="0" parTransId="{DBC7574D-1383-4741-BE95-9AC15FDE1D75}" sibTransId="{39D3783D-3580-4A28-A39C-09B36AF17020}"/>
    <dgm:cxn modelId="{B31E7849-5C2A-4E5A-8ECC-ED852C185FD3}" type="presOf" srcId="{CC6B63CF-2ABF-4A8E-BBB0-7AD353686C1E}" destId="{15F3876B-2881-4C6E-A834-12FDEF55478D}" srcOrd="0" destOrd="0" presId="urn:microsoft.com/office/officeart/2005/8/layout/list1"/>
    <dgm:cxn modelId="{4DB79651-A698-4BFD-81E0-E4644D862A04}" type="presOf" srcId="{2E1109AA-9FB3-4D55-946F-C7A369341C7E}" destId="{EBFFB0E0-92D6-4646-B399-6D08189AAF36}" srcOrd="0" destOrd="0" presId="urn:microsoft.com/office/officeart/2005/8/layout/list1"/>
    <dgm:cxn modelId="{EEFEF39C-E831-4AD1-8E39-C2E1048F3469}" type="presOf" srcId="{9B21F56F-43AD-46B3-AB13-CE869D07985B}" destId="{0C41A016-8588-4E3B-9BD9-0F99D17DCA97}" srcOrd="0" destOrd="0" presId="urn:microsoft.com/office/officeart/2005/8/layout/list1"/>
    <dgm:cxn modelId="{D101F6BB-A98E-4521-A202-8854F3A60048}" type="presOf" srcId="{3099D90C-A7F9-4C87-BE97-57FF6A9F18BD}" destId="{FCFFC285-82AC-4BBB-BBB7-F258840A4E4E}" srcOrd="0" destOrd="1" presId="urn:microsoft.com/office/officeart/2005/8/layout/list1"/>
    <dgm:cxn modelId="{5730E4C8-07B4-477D-A839-BEF729B0D625}" srcId="{CC6B63CF-2ABF-4A8E-BBB0-7AD353686C1E}" destId="{D411FAE9-6597-4A5C-8AFD-2B5F78BF28DA}" srcOrd="2" destOrd="0" parTransId="{07428C71-73BC-461F-9C29-CF645563E441}" sibTransId="{B6E932D2-0019-489B-82E7-24B4DFC116C7}"/>
    <dgm:cxn modelId="{34384BCE-0933-4069-898D-6EAF21202992}" srcId="{B85493C2-81B9-4FD7-B81D-6264258EC1EB}" destId="{B04451E2-0FD7-4841-8E32-7F978FD62FD1}" srcOrd="0" destOrd="0" parTransId="{D382E044-5B03-4EC6-ABE7-3C8C244B1F63}" sibTransId="{F8102D4A-79B1-4CA2-B47F-0F442CF34D31}"/>
    <dgm:cxn modelId="{F0C6D0D2-EC50-44E4-B523-B497F2DF4C30}" type="presOf" srcId="{B85493C2-81B9-4FD7-B81D-6264258EC1EB}" destId="{13F34F62-8AD4-455C-8DB2-24BB9D45F1EE}" srcOrd="0" destOrd="0" presId="urn:microsoft.com/office/officeart/2005/8/layout/list1"/>
    <dgm:cxn modelId="{C0FE06DF-96B7-407C-84A8-8BBC60252FEA}" type="presOf" srcId="{B85493C2-81B9-4FD7-B81D-6264258EC1EB}" destId="{6A9FFC27-D96D-4627-97AC-AD3A56B8D099}" srcOrd="1" destOrd="0" presId="urn:microsoft.com/office/officeart/2005/8/layout/list1"/>
    <dgm:cxn modelId="{AE3A80E9-D48A-4C80-A9A5-0099F9261D60}" srcId="{B85493C2-81B9-4FD7-B81D-6264258EC1EB}" destId="{23767A1B-FB77-484D-AB80-DCFB41EEB3C6}" srcOrd="2" destOrd="0" parTransId="{F04A3B0D-EF8E-48DA-9FB0-6CF190DAE042}" sibTransId="{AF51806A-FB9C-4007-9463-BA8DE75C5267}"/>
    <dgm:cxn modelId="{0B621AFF-04F5-4960-9BE7-16C7959635DE}" type="presOf" srcId="{88EFD7E2-F979-4EF0-8A5C-8AB15CC7A2BE}" destId="{0C41A016-8588-4E3B-9BD9-0F99D17DCA97}" srcOrd="0" destOrd="1" presId="urn:microsoft.com/office/officeart/2005/8/layout/list1"/>
    <dgm:cxn modelId="{8B013E2C-CCC1-41A2-893C-9E1D400A231C}" type="presParOf" srcId="{EBFFB0E0-92D6-4646-B399-6D08189AAF36}" destId="{6AF1500C-C118-415E-A762-9F5083CF55F1}" srcOrd="0" destOrd="0" presId="urn:microsoft.com/office/officeart/2005/8/layout/list1"/>
    <dgm:cxn modelId="{E05BC515-1532-493A-8817-03CFC024D564}" type="presParOf" srcId="{6AF1500C-C118-415E-A762-9F5083CF55F1}" destId="{15F3876B-2881-4C6E-A834-12FDEF55478D}" srcOrd="0" destOrd="0" presId="urn:microsoft.com/office/officeart/2005/8/layout/list1"/>
    <dgm:cxn modelId="{23999FEA-D9AD-499C-99AC-75CF0EFF8544}" type="presParOf" srcId="{6AF1500C-C118-415E-A762-9F5083CF55F1}" destId="{8F90F6ED-B954-4DAF-84DF-DE952E77E704}" srcOrd="1" destOrd="0" presId="urn:microsoft.com/office/officeart/2005/8/layout/list1"/>
    <dgm:cxn modelId="{899C26C3-D2CC-4284-8D92-E7F7E8966D3E}" type="presParOf" srcId="{EBFFB0E0-92D6-4646-B399-6D08189AAF36}" destId="{388C8E8F-9500-4855-9680-D25802F23C22}" srcOrd="1" destOrd="0" presId="urn:microsoft.com/office/officeart/2005/8/layout/list1"/>
    <dgm:cxn modelId="{6F211F5E-83E5-4610-97A1-FE19E9539A47}" type="presParOf" srcId="{EBFFB0E0-92D6-4646-B399-6D08189AAF36}" destId="{0C41A016-8588-4E3B-9BD9-0F99D17DCA97}" srcOrd="2" destOrd="0" presId="urn:microsoft.com/office/officeart/2005/8/layout/list1"/>
    <dgm:cxn modelId="{62130D52-EE3F-48A7-A542-D9A54F36BF2F}" type="presParOf" srcId="{EBFFB0E0-92D6-4646-B399-6D08189AAF36}" destId="{66EB6A14-E5DC-4982-8E0A-D50A6FC5AEFD}" srcOrd="3" destOrd="0" presId="urn:microsoft.com/office/officeart/2005/8/layout/list1"/>
    <dgm:cxn modelId="{776A46D1-A747-48D6-ADE2-F2120992E0DB}" type="presParOf" srcId="{EBFFB0E0-92D6-4646-B399-6D08189AAF36}" destId="{8A713A4D-9EA0-4D83-9514-DA8355C0CFF5}" srcOrd="4" destOrd="0" presId="urn:microsoft.com/office/officeart/2005/8/layout/list1"/>
    <dgm:cxn modelId="{84093EB9-F0D9-4434-B644-3BD56335A2D8}" type="presParOf" srcId="{8A713A4D-9EA0-4D83-9514-DA8355C0CFF5}" destId="{13F34F62-8AD4-455C-8DB2-24BB9D45F1EE}" srcOrd="0" destOrd="0" presId="urn:microsoft.com/office/officeart/2005/8/layout/list1"/>
    <dgm:cxn modelId="{E34BA75D-0B61-4348-976C-4A06762443FD}" type="presParOf" srcId="{8A713A4D-9EA0-4D83-9514-DA8355C0CFF5}" destId="{6A9FFC27-D96D-4627-97AC-AD3A56B8D099}" srcOrd="1" destOrd="0" presId="urn:microsoft.com/office/officeart/2005/8/layout/list1"/>
    <dgm:cxn modelId="{43277FC1-C007-4CE3-BEBA-F6E1D0734DE5}" type="presParOf" srcId="{EBFFB0E0-92D6-4646-B399-6D08189AAF36}" destId="{0EC861DD-F2E0-4ECA-9AAD-9C8E4EEA3973}" srcOrd="5" destOrd="0" presId="urn:microsoft.com/office/officeart/2005/8/layout/list1"/>
    <dgm:cxn modelId="{A866A3F1-1F49-488E-85C8-60AEA56AA923}" type="presParOf" srcId="{EBFFB0E0-92D6-4646-B399-6D08189AAF36}" destId="{FCFFC285-82AC-4BBB-BBB7-F258840A4E4E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F24BB26-5F2F-46A3-B08C-BC7F45B074C5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D68DDA3-7CC3-4798-ACDE-AC67FBD3999C}">
      <dgm:prSet/>
      <dgm:spPr/>
      <dgm:t>
        <a:bodyPr/>
        <a:lstStyle/>
        <a:p>
          <a:pPr>
            <a:defRPr b="1"/>
          </a:pPr>
          <a:r>
            <a:rPr lang="en-US" b="1"/>
            <a:t>Decision my analysis supports:</a:t>
          </a:r>
          <a:endParaRPr lang="en-US"/>
        </a:p>
      </dgm:t>
    </dgm:pt>
    <dgm:pt modelId="{AFE6C30B-6A65-4FFE-B328-F249D14AF12E}" type="parTrans" cxnId="{736A54F2-ED95-45D4-B4B5-D68B0FC4C9AA}">
      <dgm:prSet/>
      <dgm:spPr/>
      <dgm:t>
        <a:bodyPr/>
        <a:lstStyle/>
        <a:p>
          <a:endParaRPr lang="en-US"/>
        </a:p>
      </dgm:t>
    </dgm:pt>
    <dgm:pt modelId="{70CAD0B2-1938-41E2-9D1E-D7A891D324D3}" type="sibTrans" cxnId="{736A54F2-ED95-45D4-B4B5-D68B0FC4C9AA}">
      <dgm:prSet/>
      <dgm:spPr/>
      <dgm:t>
        <a:bodyPr/>
        <a:lstStyle/>
        <a:p>
          <a:endParaRPr lang="en-US"/>
        </a:p>
      </dgm:t>
    </dgm:pt>
    <dgm:pt modelId="{F8DA6846-39A3-402E-BA36-073883B5C440}">
      <dgm:prSet/>
      <dgm:spPr/>
      <dgm:t>
        <a:bodyPr/>
        <a:lstStyle/>
        <a:p>
          <a:r>
            <a:rPr lang="en-US"/>
            <a:t>Should this MRI scan be flagged as </a:t>
          </a:r>
          <a:r>
            <a:rPr lang="en-US" b="1"/>
            <a:t>high-priority</a:t>
          </a:r>
          <a:r>
            <a:rPr lang="en-US"/>
            <a:t> for radiologist review?</a:t>
          </a:r>
        </a:p>
      </dgm:t>
    </dgm:pt>
    <dgm:pt modelId="{FDED3923-CBB9-404B-B560-65D2BE941EF1}" type="parTrans" cxnId="{A1599352-3319-4494-B6A0-1E9B2A6C0B2A}">
      <dgm:prSet/>
      <dgm:spPr/>
      <dgm:t>
        <a:bodyPr/>
        <a:lstStyle/>
        <a:p>
          <a:endParaRPr lang="en-US"/>
        </a:p>
      </dgm:t>
    </dgm:pt>
    <dgm:pt modelId="{1373F1B6-446E-4B5D-98DE-4BC9D42A2C0F}" type="sibTrans" cxnId="{A1599352-3319-4494-B6A0-1E9B2A6C0B2A}">
      <dgm:prSet/>
      <dgm:spPr/>
      <dgm:t>
        <a:bodyPr/>
        <a:lstStyle/>
        <a:p>
          <a:endParaRPr lang="en-US"/>
        </a:p>
      </dgm:t>
    </dgm:pt>
    <dgm:pt modelId="{CAF87F4D-9013-4432-93BD-A03BF567505D}">
      <dgm:prSet/>
      <dgm:spPr/>
      <dgm:t>
        <a:bodyPr/>
        <a:lstStyle/>
        <a:p>
          <a:r>
            <a:rPr lang="en-US"/>
            <a:t>Does the MRI show signs of a tumor or can it be categorized as low-risk?</a:t>
          </a:r>
        </a:p>
      </dgm:t>
    </dgm:pt>
    <dgm:pt modelId="{47F96183-95AE-4F7D-B351-60F6C8382143}" type="parTrans" cxnId="{464AB063-A928-41B7-A1F3-02B493203EF7}">
      <dgm:prSet/>
      <dgm:spPr/>
      <dgm:t>
        <a:bodyPr/>
        <a:lstStyle/>
        <a:p>
          <a:endParaRPr lang="en-US"/>
        </a:p>
      </dgm:t>
    </dgm:pt>
    <dgm:pt modelId="{AA715B38-2DE1-408E-BF5D-2B3F70B70BD2}" type="sibTrans" cxnId="{464AB063-A928-41B7-A1F3-02B493203EF7}">
      <dgm:prSet/>
      <dgm:spPr/>
      <dgm:t>
        <a:bodyPr/>
        <a:lstStyle/>
        <a:p>
          <a:endParaRPr lang="en-US"/>
        </a:p>
      </dgm:t>
    </dgm:pt>
    <dgm:pt modelId="{2EC7C3AD-50E7-43F6-872B-848992D677CF}">
      <dgm:prSet/>
      <dgm:spPr/>
      <dgm:t>
        <a:bodyPr/>
        <a:lstStyle/>
        <a:p>
          <a:pPr>
            <a:defRPr b="1"/>
          </a:pPr>
          <a:r>
            <a:rPr lang="en-US" b="1"/>
            <a:t>Business objective &amp; success metric:</a:t>
          </a:r>
          <a:endParaRPr lang="en-US"/>
        </a:p>
      </dgm:t>
    </dgm:pt>
    <dgm:pt modelId="{BB6F9E7A-C684-4810-B226-FC9E161D4D4F}" type="parTrans" cxnId="{9F64B31F-1BAF-43F9-825F-8B15CD71842A}">
      <dgm:prSet/>
      <dgm:spPr/>
      <dgm:t>
        <a:bodyPr/>
        <a:lstStyle/>
        <a:p>
          <a:endParaRPr lang="en-US"/>
        </a:p>
      </dgm:t>
    </dgm:pt>
    <dgm:pt modelId="{DF66A07F-0471-462F-9F54-72D60F0E9C68}" type="sibTrans" cxnId="{9F64B31F-1BAF-43F9-825F-8B15CD71842A}">
      <dgm:prSet/>
      <dgm:spPr/>
      <dgm:t>
        <a:bodyPr/>
        <a:lstStyle/>
        <a:p>
          <a:endParaRPr lang="en-US"/>
        </a:p>
      </dgm:t>
    </dgm:pt>
    <dgm:pt modelId="{361CD36D-4F6C-41FA-A0F1-68061A40E903}">
      <dgm:prSet/>
      <dgm:spPr/>
      <dgm:t>
        <a:bodyPr/>
        <a:lstStyle/>
        <a:p>
          <a:r>
            <a:rPr lang="en-US"/>
            <a:t>Goal: </a:t>
          </a:r>
          <a:r>
            <a:rPr lang="en-US" b="1"/>
            <a:t>Reduce radiologist review time per scan by 20%</a:t>
          </a:r>
          <a:r>
            <a:rPr lang="en-US"/>
            <a:t> using AI-assisted screening</a:t>
          </a:r>
        </a:p>
      </dgm:t>
    </dgm:pt>
    <dgm:pt modelId="{434EDD05-1786-4C45-9555-4D7B09CFD800}" type="parTrans" cxnId="{1FD9A5DF-005D-4D5A-AAC7-143385EFC59A}">
      <dgm:prSet/>
      <dgm:spPr/>
      <dgm:t>
        <a:bodyPr/>
        <a:lstStyle/>
        <a:p>
          <a:endParaRPr lang="en-US"/>
        </a:p>
      </dgm:t>
    </dgm:pt>
    <dgm:pt modelId="{4A858A01-54AA-46D2-95DE-DA611BE5E3FE}" type="sibTrans" cxnId="{1FD9A5DF-005D-4D5A-AAC7-143385EFC59A}">
      <dgm:prSet/>
      <dgm:spPr/>
      <dgm:t>
        <a:bodyPr/>
        <a:lstStyle/>
        <a:p>
          <a:endParaRPr lang="en-US"/>
        </a:p>
      </dgm:t>
    </dgm:pt>
    <dgm:pt modelId="{572E5FE7-9EB9-44DB-B192-F9BB16C5C115}">
      <dgm:prSet/>
      <dgm:spPr/>
      <dgm:t>
        <a:bodyPr/>
        <a:lstStyle/>
        <a:p>
          <a:r>
            <a:rPr lang="en-US"/>
            <a:t>Success metric: </a:t>
          </a:r>
          <a:r>
            <a:rPr lang="en-US" b="1"/>
            <a:t>≥ 75% validation accuracy</a:t>
          </a:r>
          <a:r>
            <a:rPr lang="en-US"/>
            <a:t> on tumor vs no-tumor classification</a:t>
          </a:r>
        </a:p>
      </dgm:t>
    </dgm:pt>
    <dgm:pt modelId="{C4BB8CE5-57EA-4070-A8B2-6672F96B8C98}" type="parTrans" cxnId="{1B3DC7CF-4E3D-4979-8C21-E69CA7A33457}">
      <dgm:prSet/>
      <dgm:spPr/>
      <dgm:t>
        <a:bodyPr/>
        <a:lstStyle/>
        <a:p>
          <a:endParaRPr lang="en-US"/>
        </a:p>
      </dgm:t>
    </dgm:pt>
    <dgm:pt modelId="{FD6EDE26-D031-4A89-86DA-7367CBF8D437}" type="sibTrans" cxnId="{1B3DC7CF-4E3D-4979-8C21-E69CA7A33457}">
      <dgm:prSet/>
      <dgm:spPr/>
      <dgm:t>
        <a:bodyPr/>
        <a:lstStyle/>
        <a:p>
          <a:endParaRPr lang="en-US"/>
        </a:p>
      </dgm:t>
    </dgm:pt>
    <dgm:pt modelId="{8E31731E-846E-44B5-8030-50D42F6CC4A6}" type="pres">
      <dgm:prSet presAssocID="{3F24BB26-5F2F-46A3-B08C-BC7F45B074C5}" presName="root" presStyleCnt="0">
        <dgm:presLayoutVars>
          <dgm:dir/>
          <dgm:resizeHandles val="exact"/>
        </dgm:presLayoutVars>
      </dgm:prSet>
      <dgm:spPr/>
    </dgm:pt>
    <dgm:pt modelId="{F8854D76-7C67-4F43-8917-32B0D6B4F436}" type="pres">
      <dgm:prSet presAssocID="{7D68DDA3-7CC3-4798-ACDE-AC67FBD3999C}" presName="compNode" presStyleCnt="0"/>
      <dgm:spPr/>
    </dgm:pt>
    <dgm:pt modelId="{29573B53-6B72-4654-A5E7-0DBEA9D492D7}" type="pres">
      <dgm:prSet presAssocID="{7D68DDA3-7CC3-4798-ACDE-AC67FBD3999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978EEB91-8EBC-4E60-97FE-96EF9CF453BE}" type="pres">
      <dgm:prSet presAssocID="{7D68DDA3-7CC3-4798-ACDE-AC67FBD3999C}" presName="iconSpace" presStyleCnt="0"/>
      <dgm:spPr/>
    </dgm:pt>
    <dgm:pt modelId="{FC410977-09C1-4B71-9D80-FCBE73F3A9E9}" type="pres">
      <dgm:prSet presAssocID="{7D68DDA3-7CC3-4798-ACDE-AC67FBD3999C}" presName="parTx" presStyleLbl="revTx" presStyleIdx="0" presStyleCnt="4">
        <dgm:presLayoutVars>
          <dgm:chMax val="0"/>
          <dgm:chPref val="0"/>
        </dgm:presLayoutVars>
      </dgm:prSet>
      <dgm:spPr/>
    </dgm:pt>
    <dgm:pt modelId="{67B1720D-321B-4CC2-A647-660F99662829}" type="pres">
      <dgm:prSet presAssocID="{7D68DDA3-7CC3-4798-ACDE-AC67FBD3999C}" presName="txSpace" presStyleCnt="0"/>
      <dgm:spPr/>
    </dgm:pt>
    <dgm:pt modelId="{C9DAD0F9-7A29-4E32-AF74-F4790D80EBB2}" type="pres">
      <dgm:prSet presAssocID="{7D68DDA3-7CC3-4798-ACDE-AC67FBD3999C}" presName="desTx" presStyleLbl="revTx" presStyleIdx="1" presStyleCnt="4">
        <dgm:presLayoutVars/>
      </dgm:prSet>
      <dgm:spPr/>
    </dgm:pt>
    <dgm:pt modelId="{13ABC685-B25C-48E3-9253-8B8F39D05378}" type="pres">
      <dgm:prSet presAssocID="{70CAD0B2-1938-41E2-9D1E-D7A891D324D3}" presName="sibTrans" presStyleCnt="0"/>
      <dgm:spPr/>
    </dgm:pt>
    <dgm:pt modelId="{57CC6F5A-C88A-4C88-9407-E2D650195A9A}" type="pres">
      <dgm:prSet presAssocID="{2EC7C3AD-50E7-43F6-872B-848992D677CF}" presName="compNode" presStyleCnt="0"/>
      <dgm:spPr/>
    </dgm:pt>
    <dgm:pt modelId="{A954F2B9-D845-4C05-A999-19DD9285156E}" type="pres">
      <dgm:prSet presAssocID="{2EC7C3AD-50E7-43F6-872B-848992D677C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F22291AA-AD92-4DE9-BB0B-6AAFF022B603}" type="pres">
      <dgm:prSet presAssocID="{2EC7C3AD-50E7-43F6-872B-848992D677CF}" presName="iconSpace" presStyleCnt="0"/>
      <dgm:spPr/>
    </dgm:pt>
    <dgm:pt modelId="{97CCF1F4-4A8E-4BA8-B503-BC1117E77998}" type="pres">
      <dgm:prSet presAssocID="{2EC7C3AD-50E7-43F6-872B-848992D677CF}" presName="parTx" presStyleLbl="revTx" presStyleIdx="2" presStyleCnt="4">
        <dgm:presLayoutVars>
          <dgm:chMax val="0"/>
          <dgm:chPref val="0"/>
        </dgm:presLayoutVars>
      </dgm:prSet>
      <dgm:spPr/>
    </dgm:pt>
    <dgm:pt modelId="{505C09B4-445F-47EA-ACF2-D20CCA735544}" type="pres">
      <dgm:prSet presAssocID="{2EC7C3AD-50E7-43F6-872B-848992D677CF}" presName="txSpace" presStyleCnt="0"/>
      <dgm:spPr/>
    </dgm:pt>
    <dgm:pt modelId="{341B2535-1B66-4D07-8F6B-9BC54BE9B6A9}" type="pres">
      <dgm:prSet presAssocID="{2EC7C3AD-50E7-43F6-872B-848992D677CF}" presName="desTx" presStyleLbl="revTx" presStyleIdx="3" presStyleCnt="4">
        <dgm:presLayoutVars/>
      </dgm:prSet>
      <dgm:spPr/>
    </dgm:pt>
  </dgm:ptLst>
  <dgm:cxnLst>
    <dgm:cxn modelId="{9F64B31F-1BAF-43F9-825F-8B15CD71842A}" srcId="{3F24BB26-5F2F-46A3-B08C-BC7F45B074C5}" destId="{2EC7C3AD-50E7-43F6-872B-848992D677CF}" srcOrd="1" destOrd="0" parTransId="{BB6F9E7A-C684-4810-B226-FC9E161D4D4F}" sibTransId="{DF66A07F-0471-462F-9F54-72D60F0E9C68}"/>
    <dgm:cxn modelId="{DC006A25-A571-4359-8812-67B0E13A9FC6}" type="presOf" srcId="{7D68DDA3-7CC3-4798-ACDE-AC67FBD3999C}" destId="{FC410977-09C1-4B71-9D80-FCBE73F3A9E9}" srcOrd="0" destOrd="0" presId="urn:microsoft.com/office/officeart/2018/2/layout/IconLabelDescriptionList"/>
    <dgm:cxn modelId="{D7E54827-AC7B-41F9-BD89-FDC429D69C66}" type="presOf" srcId="{2EC7C3AD-50E7-43F6-872B-848992D677CF}" destId="{97CCF1F4-4A8E-4BA8-B503-BC1117E77998}" srcOrd="0" destOrd="0" presId="urn:microsoft.com/office/officeart/2018/2/layout/IconLabelDescriptionList"/>
    <dgm:cxn modelId="{464AB063-A928-41B7-A1F3-02B493203EF7}" srcId="{7D68DDA3-7CC3-4798-ACDE-AC67FBD3999C}" destId="{CAF87F4D-9013-4432-93BD-A03BF567505D}" srcOrd="1" destOrd="0" parTransId="{47F96183-95AE-4F7D-B351-60F6C8382143}" sibTransId="{AA715B38-2DE1-408E-BF5D-2B3F70B70BD2}"/>
    <dgm:cxn modelId="{073A0445-E009-4212-8E8A-D228F87D35C2}" type="presOf" srcId="{361CD36D-4F6C-41FA-A0F1-68061A40E903}" destId="{341B2535-1B66-4D07-8F6B-9BC54BE9B6A9}" srcOrd="0" destOrd="0" presId="urn:microsoft.com/office/officeart/2018/2/layout/IconLabelDescriptionList"/>
    <dgm:cxn modelId="{2112F551-2755-468A-9EF8-55F4DE9B6A1F}" type="presOf" srcId="{F8DA6846-39A3-402E-BA36-073883B5C440}" destId="{C9DAD0F9-7A29-4E32-AF74-F4790D80EBB2}" srcOrd="0" destOrd="0" presId="urn:microsoft.com/office/officeart/2018/2/layout/IconLabelDescriptionList"/>
    <dgm:cxn modelId="{A1599352-3319-4494-B6A0-1E9B2A6C0B2A}" srcId="{7D68DDA3-7CC3-4798-ACDE-AC67FBD3999C}" destId="{F8DA6846-39A3-402E-BA36-073883B5C440}" srcOrd="0" destOrd="0" parTransId="{FDED3923-CBB9-404B-B560-65D2BE941EF1}" sibTransId="{1373F1B6-446E-4B5D-98DE-4BC9D42A2C0F}"/>
    <dgm:cxn modelId="{87F84F53-FD51-41E3-AE7E-6F9752FCF1C9}" type="presOf" srcId="{572E5FE7-9EB9-44DB-B192-F9BB16C5C115}" destId="{341B2535-1B66-4D07-8F6B-9BC54BE9B6A9}" srcOrd="0" destOrd="1" presId="urn:microsoft.com/office/officeart/2018/2/layout/IconLabelDescriptionList"/>
    <dgm:cxn modelId="{AB98F19B-F232-4ED3-B86A-15B3BA4DFCC5}" type="presOf" srcId="{CAF87F4D-9013-4432-93BD-A03BF567505D}" destId="{C9DAD0F9-7A29-4E32-AF74-F4790D80EBB2}" srcOrd="0" destOrd="1" presId="urn:microsoft.com/office/officeart/2018/2/layout/IconLabelDescriptionList"/>
    <dgm:cxn modelId="{1B3DC7CF-4E3D-4979-8C21-E69CA7A33457}" srcId="{2EC7C3AD-50E7-43F6-872B-848992D677CF}" destId="{572E5FE7-9EB9-44DB-B192-F9BB16C5C115}" srcOrd="1" destOrd="0" parTransId="{C4BB8CE5-57EA-4070-A8B2-6672F96B8C98}" sibTransId="{FD6EDE26-D031-4A89-86DA-7367CBF8D437}"/>
    <dgm:cxn modelId="{862DCBD0-7E04-45DD-BC69-B6158C6824E4}" type="presOf" srcId="{3F24BB26-5F2F-46A3-B08C-BC7F45B074C5}" destId="{8E31731E-846E-44B5-8030-50D42F6CC4A6}" srcOrd="0" destOrd="0" presId="urn:microsoft.com/office/officeart/2018/2/layout/IconLabelDescriptionList"/>
    <dgm:cxn modelId="{1FD9A5DF-005D-4D5A-AAC7-143385EFC59A}" srcId="{2EC7C3AD-50E7-43F6-872B-848992D677CF}" destId="{361CD36D-4F6C-41FA-A0F1-68061A40E903}" srcOrd="0" destOrd="0" parTransId="{434EDD05-1786-4C45-9555-4D7B09CFD800}" sibTransId="{4A858A01-54AA-46D2-95DE-DA611BE5E3FE}"/>
    <dgm:cxn modelId="{736A54F2-ED95-45D4-B4B5-D68B0FC4C9AA}" srcId="{3F24BB26-5F2F-46A3-B08C-BC7F45B074C5}" destId="{7D68DDA3-7CC3-4798-ACDE-AC67FBD3999C}" srcOrd="0" destOrd="0" parTransId="{AFE6C30B-6A65-4FFE-B328-F249D14AF12E}" sibTransId="{70CAD0B2-1938-41E2-9D1E-D7A891D324D3}"/>
    <dgm:cxn modelId="{276F1852-8FCD-425F-8E71-F16153689B3D}" type="presParOf" srcId="{8E31731E-846E-44B5-8030-50D42F6CC4A6}" destId="{F8854D76-7C67-4F43-8917-32B0D6B4F436}" srcOrd="0" destOrd="0" presId="urn:microsoft.com/office/officeart/2018/2/layout/IconLabelDescriptionList"/>
    <dgm:cxn modelId="{84185A51-02F5-4992-A9C3-62A005A4199E}" type="presParOf" srcId="{F8854D76-7C67-4F43-8917-32B0D6B4F436}" destId="{29573B53-6B72-4654-A5E7-0DBEA9D492D7}" srcOrd="0" destOrd="0" presId="urn:microsoft.com/office/officeart/2018/2/layout/IconLabelDescriptionList"/>
    <dgm:cxn modelId="{7553F284-AF50-4323-AC46-F2DE9477CE01}" type="presParOf" srcId="{F8854D76-7C67-4F43-8917-32B0D6B4F436}" destId="{978EEB91-8EBC-4E60-97FE-96EF9CF453BE}" srcOrd="1" destOrd="0" presId="urn:microsoft.com/office/officeart/2018/2/layout/IconLabelDescriptionList"/>
    <dgm:cxn modelId="{13A292E7-9054-457F-AAE5-1FF87FB611AA}" type="presParOf" srcId="{F8854D76-7C67-4F43-8917-32B0D6B4F436}" destId="{FC410977-09C1-4B71-9D80-FCBE73F3A9E9}" srcOrd="2" destOrd="0" presId="urn:microsoft.com/office/officeart/2018/2/layout/IconLabelDescriptionList"/>
    <dgm:cxn modelId="{BBFD89B8-BD50-4FF9-A5AA-9F676AFC5F71}" type="presParOf" srcId="{F8854D76-7C67-4F43-8917-32B0D6B4F436}" destId="{67B1720D-321B-4CC2-A647-660F99662829}" srcOrd="3" destOrd="0" presId="urn:microsoft.com/office/officeart/2018/2/layout/IconLabelDescriptionList"/>
    <dgm:cxn modelId="{B89A45BF-F76F-451C-BE5E-1EE1F4E01EE4}" type="presParOf" srcId="{F8854D76-7C67-4F43-8917-32B0D6B4F436}" destId="{C9DAD0F9-7A29-4E32-AF74-F4790D80EBB2}" srcOrd="4" destOrd="0" presId="urn:microsoft.com/office/officeart/2018/2/layout/IconLabelDescriptionList"/>
    <dgm:cxn modelId="{419E04E6-2346-493F-B531-7EBE6095F7D7}" type="presParOf" srcId="{8E31731E-846E-44B5-8030-50D42F6CC4A6}" destId="{13ABC685-B25C-48E3-9253-8B8F39D05378}" srcOrd="1" destOrd="0" presId="urn:microsoft.com/office/officeart/2018/2/layout/IconLabelDescriptionList"/>
    <dgm:cxn modelId="{DF67FE97-F616-4234-AFF7-9E0905195396}" type="presParOf" srcId="{8E31731E-846E-44B5-8030-50D42F6CC4A6}" destId="{57CC6F5A-C88A-4C88-9407-E2D650195A9A}" srcOrd="2" destOrd="0" presId="urn:microsoft.com/office/officeart/2018/2/layout/IconLabelDescriptionList"/>
    <dgm:cxn modelId="{97B59F8A-BFD9-4CDB-9E23-8235E7CFAA96}" type="presParOf" srcId="{57CC6F5A-C88A-4C88-9407-E2D650195A9A}" destId="{A954F2B9-D845-4C05-A999-19DD9285156E}" srcOrd="0" destOrd="0" presId="urn:microsoft.com/office/officeart/2018/2/layout/IconLabelDescriptionList"/>
    <dgm:cxn modelId="{50A0C148-605C-4FB0-93E4-F647904FA867}" type="presParOf" srcId="{57CC6F5A-C88A-4C88-9407-E2D650195A9A}" destId="{F22291AA-AD92-4DE9-BB0B-6AAFF022B603}" srcOrd="1" destOrd="0" presId="urn:microsoft.com/office/officeart/2018/2/layout/IconLabelDescriptionList"/>
    <dgm:cxn modelId="{42BDABA9-7832-49EF-AEF2-6F86EE8F780E}" type="presParOf" srcId="{57CC6F5A-C88A-4C88-9407-E2D650195A9A}" destId="{97CCF1F4-4A8E-4BA8-B503-BC1117E77998}" srcOrd="2" destOrd="0" presId="urn:microsoft.com/office/officeart/2018/2/layout/IconLabelDescriptionList"/>
    <dgm:cxn modelId="{9421D0E6-2DA4-457B-9B23-3153105E6ED4}" type="presParOf" srcId="{57CC6F5A-C88A-4C88-9407-E2D650195A9A}" destId="{505C09B4-445F-47EA-ACF2-D20CCA735544}" srcOrd="3" destOrd="0" presId="urn:microsoft.com/office/officeart/2018/2/layout/IconLabelDescriptionList"/>
    <dgm:cxn modelId="{715D1098-EA70-4A96-A570-DFDEA7849927}" type="presParOf" srcId="{57CC6F5A-C88A-4C88-9407-E2D650195A9A}" destId="{341B2535-1B66-4D07-8F6B-9BC54BE9B6A9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41A016-8588-4E3B-9BD9-0F99D17DCA97}">
      <dsp:nvSpPr>
        <dsp:cNvPr id="0" name=""/>
        <dsp:cNvSpPr/>
      </dsp:nvSpPr>
      <dsp:spPr>
        <a:xfrm>
          <a:off x="0" y="526618"/>
          <a:ext cx="10353675" cy="1449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3560" tIns="416560" rIns="803560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Hospitals &amp; diagnostic centers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Radiologists &amp; medical imaging teams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Healthcare administrators</a:t>
          </a:r>
        </a:p>
      </dsp:txBody>
      <dsp:txXfrm>
        <a:off x="0" y="526618"/>
        <a:ext cx="10353675" cy="1449000"/>
      </dsp:txXfrm>
    </dsp:sp>
    <dsp:sp modelId="{8F90F6ED-B954-4DAF-84DF-DE952E77E704}">
      <dsp:nvSpPr>
        <dsp:cNvPr id="0" name=""/>
        <dsp:cNvSpPr/>
      </dsp:nvSpPr>
      <dsp:spPr>
        <a:xfrm>
          <a:off x="517683" y="231418"/>
          <a:ext cx="7247572" cy="5904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3941" tIns="0" rIns="273941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Who is the customer?</a:t>
          </a:r>
          <a:endParaRPr lang="en-US" sz="2000" kern="1200"/>
        </a:p>
      </dsp:txBody>
      <dsp:txXfrm>
        <a:off x="546504" y="260239"/>
        <a:ext cx="7189930" cy="532758"/>
      </dsp:txXfrm>
    </dsp:sp>
    <dsp:sp modelId="{FCFFC285-82AC-4BBB-BBB7-F258840A4E4E}">
      <dsp:nvSpPr>
        <dsp:cNvPr id="0" name=""/>
        <dsp:cNvSpPr/>
      </dsp:nvSpPr>
      <dsp:spPr>
        <a:xfrm>
          <a:off x="0" y="2378818"/>
          <a:ext cx="10353675" cy="1449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3560" tIns="416560" rIns="803560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Brain tumors are life-critical and require fast detection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Radiologists review hundreds of MRI scans daily → risk of delays and fatigue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Manual review is time-consuming and costly</a:t>
          </a:r>
        </a:p>
      </dsp:txBody>
      <dsp:txXfrm>
        <a:off x="0" y="2378818"/>
        <a:ext cx="10353675" cy="1449000"/>
      </dsp:txXfrm>
    </dsp:sp>
    <dsp:sp modelId="{6A9FFC27-D96D-4627-97AC-AD3A56B8D099}">
      <dsp:nvSpPr>
        <dsp:cNvPr id="0" name=""/>
        <dsp:cNvSpPr/>
      </dsp:nvSpPr>
      <dsp:spPr>
        <a:xfrm>
          <a:off x="517683" y="2083618"/>
          <a:ext cx="7247572" cy="5904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3941" tIns="0" rIns="273941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Why this problem matters:</a:t>
          </a:r>
          <a:endParaRPr lang="en-US" sz="2000" kern="1200"/>
        </a:p>
      </dsp:txBody>
      <dsp:txXfrm>
        <a:off x="546504" y="2112439"/>
        <a:ext cx="7189930" cy="5327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573B53-6B72-4654-A5E7-0DBEA9D492D7}">
      <dsp:nvSpPr>
        <dsp:cNvPr id="0" name=""/>
        <dsp:cNvSpPr/>
      </dsp:nvSpPr>
      <dsp:spPr>
        <a:xfrm>
          <a:off x="478837" y="260889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410977-09C1-4B71-9D80-FCBE73F3A9E9}">
      <dsp:nvSpPr>
        <dsp:cNvPr id="0" name=""/>
        <dsp:cNvSpPr/>
      </dsp:nvSpPr>
      <dsp:spPr>
        <a:xfrm>
          <a:off x="478837" y="191808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b="1" kern="1200"/>
            <a:t>Decision my analysis supports:</a:t>
          </a:r>
          <a:endParaRPr lang="en-US" sz="2300" kern="1200"/>
        </a:p>
      </dsp:txBody>
      <dsp:txXfrm>
        <a:off x="478837" y="1918082"/>
        <a:ext cx="4320000" cy="648000"/>
      </dsp:txXfrm>
    </dsp:sp>
    <dsp:sp modelId="{C9DAD0F9-7A29-4E32-AF74-F4790D80EBB2}">
      <dsp:nvSpPr>
        <dsp:cNvPr id="0" name=""/>
        <dsp:cNvSpPr/>
      </dsp:nvSpPr>
      <dsp:spPr>
        <a:xfrm>
          <a:off x="478837" y="2633614"/>
          <a:ext cx="4320000" cy="1003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Should this MRI scan be flagged as </a:t>
          </a:r>
          <a:r>
            <a:rPr lang="en-US" sz="1700" b="1" kern="1200"/>
            <a:t>high-priority</a:t>
          </a:r>
          <a:r>
            <a:rPr lang="en-US" sz="1700" kern="1200"/>
            <a:t> for radiologist review?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Does the MRI show signs of a tumor or can it be categorized as low-risk?</a:t>
          </a:r>
        </a:p>
      </dsp:txBody>
      <dsp:txXfrm>
        <a:off x="478837" y="2633614"/>
        <a:ext cx="4320000" cy="1003865"/>
      </dsp:txXfrm>
    </dsp:sp>
    <dsp:sp modelId="{A954F2B9-D845-4C05-A999-19DD9285156E}">
      <dsp:nvSpPr>
        <dsp:cNvPr id="0" name=""/>
        <dsp:cNvSpPr/>
      </dsp:nvSpPr>
      <dsp:spPr>
        <a:xfrm>
          <a:off x="5554837" y="260889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CCF1F4-4A8E-4BA8-B503-BC1117E77998}">
      <dsp:nvSpPr>
        <dsp:cNvPr id="0" name=""/>
        <dsp:cNvSpPr/>
      </dsp:nvSpPr>
      <dsp:spPr>
        <a:xfrm>
          <a:off x="5554837" y="191808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b="1" kern="1200"/>
            <a:t>Business objective &amp; success metric:</a:t>
          </a:r>
          <a:endParaRPr lang="en-US" sz="2300" kern="1200"/>
        </a:p>
      </dsp:txBody>
      <dsp:txXfrm>
        <a:off x="5554837" y="1918082"/>
        <a:ext cx="4320000" cy="648000"/>
      </dsp:txXfrm>
    </dsp:sp>
    <dsp:sp modelId="{341B2535-1B66-4D07-8F6B-9BC54BE9B6A9}">
      <dsp:nvSpPr>
        <dsp:cNvPr id="0" name=""/>
        <dsp:cNvSpPr/>
      </dsp:nvSpPr>
      <dsp:spPr>
        <a:xfrm>
          <a:off x="5554837" y="2633614"/>
          <a:ext cx="4320000" cy="1003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Goal: </a:t>
          </a:r>
          <a:r>
            <a:rPr lang="en-US" sz="1700" b="1" kern="1200"/>
            <a:t>Reduce radiologist review time per scan by 20%</a:t>
          </a:r>
          <a:r>
            <a:rPr lang="en-US" sz="1700" kern="1200"/>
            <a:t> using AI-assisted screening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Success metric: </a:t>
          </a:r>
          <a:r>
            <a:rPr lang="en-US" sz="1700" b="1" kern="1200"/>
            <a:t>≥ 75% validation accuracy</a:t>
          </a:r>
          <a:r>
            <a:rPr lang="en-US" sz="1700" kern="1200"/>
            <a:t> on tumor vs no-tumor classification</a:t>
          </a:r>
        </a:p>
      </dsp:txBody>
      <dsp:txXfrm>
        <a:off x="5554837" y="2633614"/>
        <a:ext cx="4320000" cy="10038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57AA0-45B2-4E84-B8E3-33524F7A2322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ED239-542C-4586-AF71-709338ACBE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5178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57AA0-45B2-4E84-B8E3-33524F7A2322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ED239-542C-4586-AF71-709338ACBE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81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57AA0-45B2-4E84-B8E3-33524F7A2322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ED239-542C-4586-AF71-709338ACBE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6349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57AA0-45B2-4E84-B8E3-33524F7A2322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ED239-542C-4586-AF71-709338ACBE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004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57AA0-45B2-4E84-B8E3-33524F7A2322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ED239-542C-4586-AF71-709338ACBE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514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57AA0-45B2-4E84-B8E3-33524F7A2322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ED239-542C-4586-AF71-709338ACBE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8228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57AA0-45B2-4E84-B8E3-33524F7A2322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ED239-542C-4586-AF71-709338ACBE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45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57AA0-45B2-4E84-B8E3-33524F7A2322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ED239-542C-4586-AF71-709338ACBE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210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57AA0-45B2-4E84-B8E3-33524F7A2322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ED239-542C-4586-AF71-709338ACBE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969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57AA0-45B2-4E84-B8E3-33524F7A2322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ED239-542C-4586-AF71-709338ACBE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0230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57AA0-45B2-4E84-B8E3-33524F7A2322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ED239-542C-4586-AF71-709338ACBE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9411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57AA0-45B2-4E84-B8E3-33524F7A2322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ED239-542C-4586-AF71-709338ACBE16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425835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57AA0-45B2-4E84-B8E3-33524F7A2322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ED239-542C-4586-AF71-709338ACBE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25943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57AA0-45B2-4E84-B8E3-33524F7A2322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ED239-542C-4586-AF71-709338ACBE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40515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57AA0-45B2-4E84-B8E3-33524F7A2322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ED239-542C-4586-AF71-709338ACBE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67041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57AA0-45B2-4E84-B8E3-33524F7A2322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ED239-542C-4586-AF71-709338ACBE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18859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57AA0-45B2-4E84-B8E3-33524F7A2322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ED239-542C-4586-AF71-709338ACBE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3647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3F57AA0-45B2-4E84-B8E3-33524F7A2322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BDED239-542C-4586-AF71-709338ACBE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29836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Red Triangles">
            <a:extLst>
              <a:ext uri="{FF2B5EF4-FFF2-40B4-BE49-F238E27FC236}">
                <a16:creationId xmlns:a16="http://schemas.microsoft.com/office/drawing/2014/main" id="{B2ADFD1F-BD94-3F9B-FB04-8266F7A049C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t="8738" b="944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8B77E62-E385-8EA3-CB37-95F940F3DC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i="1" u="sng" dirty="0">
                <a:solidFill>
                  <a:srgbClr val="FF0000"/>
                </a:solidFill>
              </a:rPr>
              <a:t>Brain Tumor Classification using CNN</a:t>
            </a:r>
            <a:endParaRPr lang="en-IN" b="1" i="1" u="sng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CB22B4-BDC4-A863-CEFC-9FB716A5DA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4000" b="1" i="1" u="sng" dirty="0">
                <a:solidFill>
                  <a:srgbClr val="FF0000"/>
                </a:solidFill>
              </a:rPr>
              <a:t>By: Harshitha Mallappa</a:t>
            </a:r>
          </a:p>
        </p:txBody>
      </p:sp>
    </p:spTree>
    <p:extLst>
      <p:ext uri="{BB962C8B-B14F-4D97-AF65-F5344CB8AC3E}">
        <p14:creationId xmlns:p14="http://schemas.microsoft.com/office/powerpoint/2010/main" val="3961790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C8F85-580F-60FA-1E7A-7BA6CD87C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6160" y="609600"/>
            <a:ext cx="5978072" cy="970450"/>
          </a:xfrm>
        </p:spPr>
        <p:txBody>
          <a:bodyPr>
            <a:normAutofit/>
          </a:bodyPr>
          <a:lstStyle/>
          <a:p>
            <a:r>
              <a:rPr lang="en-IN"/>
              <a:t>CRISP – DM Framework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D44CDEA-D84B-9B80-796D-4EDE90AB96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46160" y="1828801"/>
            <a:ext cx="5978072" cy="386604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>
                <a:srgbClr val="EE8061"/>
              </a:buClr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Business Understanding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>
                <a:srgbClr val="EE8061"/>
              </a:buClr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Data Understanding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>
                <a:srgbClr val="EE8061"/>
              </a:buClr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Data Preparation &amp; EDA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>
                <a:srgbClr val="EE8061"/>
              </a:buClr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Modelling (Baseline vs Improved)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>
                <a:srgbClr val="EE8061"/>
              </a:buClr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Evaluation &amp; Business Impact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>
                <a:srgbClr val="EE8061"/>
              </a:buClr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Summary, Recommendations &amp; What-If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>
                <a:srgbClr val="EE8061"/>
              </a:buClr>
              <a:buSzTx/>
              <a:buFontTx/>
              <a:buChar char="•"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Q&amp;A</a:t>
            </a:r>
          </a:p>
        </p:txBody>
      </p:sp>
      <p:pic>
        <p:nvPicPr>
          <p:cNvPr id="6" name="Picture 5" descr="Desk with productivity items">
            <a:extLst>
              <a:ext uri="{FF2B5EF4-FFF2-40B4-BE49-F238E27FC236}">
                <a16:creationId xmlns:a16="http://schemas.microsoft.com/office/drawing/2014/main" id="{804D8F75-2204-B820-3DEF-EEE4843FFD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376" r="20126" b="-2"/>
          <a:stretch>
            <a:fillRect/>
          </a:stretch>
        </p:blipFill>
        <p:spPr>
          <a:xfrm>
            <a:off x="-10649" y="1"/>
            <a:ext cx="45716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599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61BE5-8201-9952-80EB-0811F9774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5" y="338726"/>
            <a:ext cx="10353762" cy="1393237"/>
          </a:xfrm>
        </p:spPr>
        <p:txBody>
          <a:bodyPr>
            <a:normAutofit fontScale="90000"/>
          </a:bodyPr>
          <a:lstStyle/>
          <a:p>
            <a:r>
              <a:rPr lang="en-IN" dirty="0"/>
              <a:t>Business Understanding</a:t>
            </a:r>
            <a:r>
              <a:rPr lang="en-US" b="1" dirty="0"/>
              <a:t>: </a:t>
            </a:r>
            <a:r>
              <a:rPr lang="en-US" dirty="0"/>
              <a:t>AI-Assisted Brain Tumor Detection from MRI Scans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3F1497DB-E69F-A719-8D7A-A180D1CF02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5058318"/>
              </p:ext>
            </p:extLst>
          </p:nvPr>
        </p:nvGraphicFramePr>
        <p:xfrm>
          <a:off x="914400" y="1731963"/>
          <a:ext cx="10353675" cy="4059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59375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4467C-FF1C-87D7-7C9E-AB7E86E3A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IN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F6B46969-4C99-507B-2C5C-59B36A9294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628050"/>
              </p:ext>
            </p:extLst>
          </p:nvPr>
        </p:nvGraphicFramePr>
        <p:xfrm>
          <a:off x="914400" y="1892830"/>
          <a:ext cx="10353675" cy="38983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97692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3A0DA-BC7A-22F2-6136-841B0B0A1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6160" y="609600"/>
            <a:ext cx="5978072" cy="97045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de-DE" sz="3100"/>
              <a:t>Dataset: Brain MRI Tumor Images (Kaggle)</a:t>
            </a:r>
            <a:endParaRPr lang="en-IN" sz="3100"/>
          </a:p>
        </p:txBody>
      </p:sp>
      <p:pic>
        <p:nvPicPr>
          <p:cNvPr id="13" name="Picture 12" descr="Scan of a human brain in a neurology clinic">
            <a:extLst>
              <a:ext uri="{FF2B5EF4-FFF2-40B4-BE49-F238E27FC236}">
                <a16:creationId xmlns:a16="http://schemas.microsoft.com/office/drawing/2014/main" id="{2C44EAE5-609C-987A-2F84-EF332737F8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746" r="258"/>
          <a:stretch>
            <a:fillRect/>
          </a:stretch>
        </p:blipFill>
        <p:spPr>
          <a:xfrm>
            <a:off x="-10649" y="1"/>
            <a:ext cx="4571649" cy="685800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ED99A15B-CBB2-C3D6-6132-E358880FB3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46160" y="1828800"/>
            <a:ext cx="5978072" cy="479306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>
                <a:srgbClr val="8DECFF"/>
              </a:buClr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Source &amp; structure: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>
                <a:srgbClr val="8DECFF"/>
              </a:buClr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Open-source dataset from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Kaggle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>
                <a:srgbClr val="8DECFF"/>
              </a:buClr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Two folders: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yes/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(tumor) and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no/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(no tumor)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>
                <a:srgbClr val="8DECFF"/>
              </a:buClr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Total images: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253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marR="0" lvl="1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>
                <a:srgbClr val="8DECFF"/>
              </a:buClr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155 tumor (yes)</a:t>
            </a:r>
          </a:p>
          <a:p>
            <a:pPr marL="457200" marR="0" lvl="1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>
                <a:srgbClr val="8DECFF"/>
              </a:buClr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98 no tumor (no)</a:t>
            </a:r>
          </a:p>
          <a:p>
            <a:pPr marL="457200" marR="0" lvl="1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>
                <a:srgbClr val="8DECFF"/>
              </a:buClr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>
                <a:srgbClr val="8DECFF"/>
              </a:buClr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Why this dataset is suitable: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>
                <a:srgbClr val="8DECFF"/>
              </a:buClr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Directly matches the business problem: tumor vs no-tumor classification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>
                <a:srgbClr val="8DECFF"/>
              </a:buClr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Real MRI scans → closer to real-world hospital workflows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>
                <a:srgbClr val="8DECFF"/>
              </a:buClr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Clean folder structure → ideal for supervised CNN training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>
                <a:srgbClr val="8DECFF"/>
              </a:buClr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59DF61F-9058-49C9-8F75-DC501F983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-10649" y="1"/>
            <a:ext cx="46905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997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can of a human brain in a neurology clinic">
            <a:extLst>
              <a:ext uri="{FF2B5EF4-FFF2-40B4-BE49-F238E27FC236}">
                <a16:creationId xmlns:a16="http://schemas.microsoft.com/office/drawing/2014/main" id="{44232D30-5313-6D03-D384-2E69F0412E0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rcRect t="16148" b="885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DDCF3-80CE-2624-642E-097C9FE60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954593"/>
            <a:ext cx="10353762" cy="4836607"/>
          </a:xfrm>
        </p:spPr>
        <p:txBody>
          <a:bodyPr anchor="ctr">
            <a:norm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buClr>
                <a:srgbClr val="8DECFF"/>
              </a:buClr>
              <a:buSzTx/>
              <a:buFontTx/>
              <a:buChar char="•"/>
            </a:pPr>
            <a:r>
              <a:rPr lang="en-US" altLang="en-US" sz="2400" b="1" dirty="0">
                <a:ln>
                  <a:noFill/>
                </a:ln>
                <a:effectLst/>
                <a:latin typeface="Arial" panose="020B0604020202020204" pitchFamily="34" charset="0"/>
              </a:rPr>
              <a:t>Limitations:</a:t>
            </a:r>
            <a:endParaRPr lang="en-US" altLang="en-US" sz="240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>
                <a:srgbClr val="8DECFF"/>
              </a:buClr>
              <a:buSzTx/>
              <a:buFontTx/>
              <a:buChar char="•"/>
            </a:pPr>
            <a:r>
              <a:rPr lang="en-US" altLang="en-US" sz="2400" dirty="0">
                <a:ln>
                  <a:noFill/>
                </a:ln>
                <a:effectLst/>
                <a:latin typeface="Arial" panose="020B0604020202020204" pitchFamily="34" charset="0"/>
              </a:rPr>
              <a:t>Limited dataset size → risk of overfitting</a:t>
            </a:r>
          </a:p>
          <a:p>
            <a:pPr marL="0" lvl="0" indent="0" defTabSz="914400" eaLnBrk="0" fontAlgn="base" hangingPunct="0">
              <a:spcBef>
                <a:spcPct val="0"/>
              </a:spcBef>
              <a:buClr>
                <a:srgbClr val="8DECFF"/>
              </a:buClr>
              <a:buSzTx/>
              <a:buFontTx/>
              <a:buChar char="•"/>
            </a:pPr>
            <a:r>
              <a:rPr lang="en-US" altLang="en-US" sz="2400" dirty="0">
                <a:ln>
                  <a:noFill/>
                </a:ln>
                <a:effectLst/>
                <a:latin typeface="Arial" panose="020B0604020202020204" pitchFamily="34" charset="0"/>
              </a:rPr>
              <a:t>No metadata (age, gender, tumor type, MRI machine)</a:t>
            </a:r>
          </a:p>
          <a:p>
            <a:pPr marL="0" lvl="0" indent="0" defTabSz="914400" eaLnBrk="0" fontAlgn="base" hangingPunct="0">
              <a:spcBef>
                <a:spcPct val="0"/>
              </a:spcBef>
              <a:buClr>
                <a:srgbClr val="8DECFF"/>
              </a:buClr>
              <a:buSzTx/>
              <a:buFontTx/>
              <a:buChar char="•"/>
            </a:pPr>
            <a:r>
              <a:rPr lang="en-US" altLang="en-US" sz="2400" dirty="0">
                <a:ln>
                  <a:noFill/>
                </a:ln>
                <a:effectLst/>
                <a:latin typeface="Arial" panose="020B0604020202020204" pitchFamily="34" charset="0"/>
              </a:rPr>
              <a:t>Binary labels only → cannot differentiate tumor types</a:t>
            </a:r>
          </a:p>
          <a:p>
            <a:pPr marL="0" lvl="0" indent="0" defTabSz="914400" eaLnBrk="0" fontAlgn="base" hangingPunct="0">
              <a:spcBef>
                <a:spcPct val="0"/>
              </a:spcBef>
              <a:buClr>
                <a:srgbClr val="8DECFF"/>
              </a:buClr>
              <a:buSzTx/>
              <a:buFontTx/>
              <a:buChar char="•"/>
            </a:pPr>
            <a:r>
              <a:rPr lang="en-US" altLang="en-US" sz="2400" dirty="0">
                <a:ln>
                  <a:noFill/>
                </a:ln>
                <a:effectLst/>
                <a:latin typeface="Arial" panose="020B0604020202020204" pitchFamily="34" charset="0"/>
              </a:rPr>
              <a:t>Slight class imbalance (more tumor images)</a:t>
            </a:r>
          </a:p>
          <a:p>
            <a:pPr marL="0" lvl="0" indent="0" defTabSz="914400" eaLnBrk="0" fontAlgn="base" hangingPunct="0">
              <a:spcBef>
                <a:spcPct val="0"/>
              </a:spcBef>
              <a:buClr>
                <a:srgbClr val="8DECFF"/>
              </a:buClr>
              <a:buSzTx/>
              <a:buNone/>
            </a:pPr>
            <a:endParaRPr lang="en-US" altLang="en-US" sz="240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>
                <a:srgbClr val="8DECFF"/>
              </a:buClr>
              <a:buSzTx/>
              <a:buFontTx/>
              <a:buChar char="•"/>
            </a:pPr>
            <a:r>
              <a:rPr lang="en-US" altLang="en-US" sz="2400" b="1" dirty="0">
                <a:ln>
                  <a:noFill/>
                </a:ln>
                <a:effectLst/>
                <a:latin typeface="Arial" panose="020B0604020202020204" pitchFamily="34" charset="0"/>
              </a:rPr>
              <a:t>Quick descriptive overview:</a:t>
            </a:r>
            <a:endParaRPr lang="en-US" altLang="en-US" sz="240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>
                <a:srgbClr val="8DECFF"/>
              </a:buClr>
              <a:buSzTx/>
              <a:buFontTx/>
              <a:buChar char="•"/>
            </a:pPr>
            <a:r>
              <a:rPr lang="en-US" altLang="en-US" sz="2400" dirty="0">
                <a:ln>
                  <a:noFill/>
                </a:ln>
                <a:effectLst/>
                <a:latin typeface="Arial" panose="020B0604020202020204" pitchFamily="34" charset="0"/>
              </a:rPr>
              <a:t>Class distribution is moderately balanced</a:t>
            </a:r>
          </a:p>
          <a:p>
            <a:pPr marL="0" lvl="0" indent="0" defTabSz="914400" eaLnBrk="0" fontAlgn="base" hangingPunct="0">
              <a:spcBef>
                <a:spcPct val="0"/>
              </a:spcBef>
              <a:buClr>
                <a:srgbClr val="8DECFF"/>
              </a:buClr>
              <a:buSzTx/>
              <a:buFontTx/>
              <a:buChar char="•"/>
            </a:pPr>
            <a:r>
              <a:rPr lang="en-US" altLang="en-US" sz="2400" dirty="0">
                <a:ln>
                  <a:noFill/>
                </a:ln>
                <a:effectLst/>
                <a:latin typeface="Arial" panose="020B0604020202020204" pitchFamily="34" charset="0"/>
              </a:rPr>
              <a:t>Image sizes and brightness vary a lot → motivates resizing and normalization</a:t>
            </a:r>
          </a:p>
          <a:p>
            <a:pPr>
              <a:buClr>
                <a:srgbClr val="8DECFF"/>
              </a:buClr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925266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A6C2C86-63BF-47D5-AA3F-905111A23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1C5313-F998-B4D9-C504-1BCC505DF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013" y="1115568"/>
            <a:ext cx="3487616" cy="4626864"/>
          </a:xfrm>
        </p:spPr>
        <p:txBody>
          <a:bodyPr>
            <a:normAutofit/>
          </a:bodyPr>
          <a:lstStyle/>
          <a:p>
            <a:pPr algn="l"/>
            <a:r>
              <a:rPr lang="en-IN" sz="3600" b="1"/>
              <a:t>Data Cleaning &amp; Exploratory Analysis</a:t>
            </a:r>
            <a:br>
              <a:rPr lang="en-IN" sz="3600"/>
            </a:br>
            <a:endParaRPr lang="en-IN" sz="36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5A0768-3044-4AA9-A889-D2CAA68C5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605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11E7A04E-9A15-576C-3FBE-EDCE3F9A9C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05398" y="1296236"/>
            <a:ext cx="6245352" cy="44461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Before vs After Cleaning: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Original MRI images → different sizes, resolutions, and brightness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All images resized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150×150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pixels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Pixel values normalized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0–1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Dataset split: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80% training / 20% validation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Prefetching used to speed up training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Key EDA Insights (Customer Insights for Hospital):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Image size variation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marR="0" lvl="1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Images range from ~150 to ~1900 pixels in width</a:t>
            </a:r>
          </a:p>
          <a:p>
            <a:pPr marL="457200" marR="0" lvl="1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Confirms the need to standardize size to 150×150 for stable CNN performance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8946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Zigzag indicator line">
            <a:extLst>
              <a:ext uri="{FF2B5EF4-FFF2-40B4-BE49-F238E27FC236}">
                <a16:creationId xmlns:a16="http://schemas.microsoft.com/office/drawing/2014/main" id="{3ECE197D-26BF-44E4-5F7B-26FCF9CD56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328" r="30174" b="-2"/>
          <a:stretch>
            <a:fillRect/>
          </a:stretch>
        </p:blipFill>
        <p:spPr>
          <a:xfrm>
            <a:off x="-10649" y="1"/>
            <a:ext cx="4571649" cy="685800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F3FD2005-313D-ADA0-FA36-989F53C4F2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46160" y="1085221"/>
            <a:ext cx="5978072" cy="460962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>
                <a:srgbClr val="589BA3"/>
              </a:buClr>
              <a:buSzTx/>
              <a:buFontTx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Brightness variation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marR="0" lvl="1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>
                <a:srgbClr val="589BA3"/>
              </a:buClr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Mean pixel brightness varies widely across scans</a:t>
            </a:r>
          </a:p>
          <a:p>
            <a:pPr marL="457200" marR="0" lvl="1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>
                <a:srgbClr val="589BA3"/>
              </a:buClr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Justifies normalization 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Rescaling(1/255)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) to reduce lighting bias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>
                <a:srgbClr val="589BA3"/>
              </a:buClr>
              <a:buSzTx/>
              <a:buFontTx/>
              <a:buAutoNum type="arabicPeriod" startAt="2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Reasonable class balance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marR="0" lvl="1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>
                <a:srgbClr val="589BA3"/>
              </a:buClr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Slightly more tumor images than non-tumor, but no extreme skew</a:t>
            </a:r>
          </a:p>
          <a:p>
            <a:pPr marL="457200" marR="0" lvl="1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>
                <a:srgbClr val="589BA3"/>
              </a:buClr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Good foundation for binary classification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>
                <a:srgbClr val="589BA3"/>
              </a:buClr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Descriptive statistics support these decisions: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>
                <a:srgbClr val="589BA3"/>
              </a:buClr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Total images, min/max/mean width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>
                <a:srgbClr val="589BA3"/>
              </a:buClr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Min/max/mean brightness values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>
                <a:srgbClr val="589BA3"/>
              </a:buClr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59DF61F-9058-49C9-8F75-DC501F983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-10649" y="1"/>
            <a:ext cx="46905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43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omputer Generated Lights">
            <a:extLst>
              <a:ext uri="{FF2B5EF4-FFF2-40B4-BE49-F238E27FC236}">
                <a16:creationId xmlns:a16="http://schemas.microsoft.com/office/drawing/2014/main" id="{4754ABD6-57C6-1636-4766-EE8530A307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836" r="22386"/>
          <a:stretch>
            <a:fillRect/>
          </a:stretch>
        </p:blipFill>
        <p:spPr>
          <a:xfrm>
            <a:off x="-8622" y="10"/>
            <a:ext cx="6265648" cy="68579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406FD94-C6FC-B609-0DA6-2F3F72B8A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IN" sz="3200"/>
              <a:t>Modelling Approach (Baseline &amp; Improved)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D0AD987-DF64-EF70-B2B8-FFAC4A975C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00493" y="1732449"/>
            <a:ext cx="4403596" cy="405875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Business Modelling Task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Problem type: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Binary classification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Input: MRI brain images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Output: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Tumor / No Tumor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Baseline Model: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Simple CNN built using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Conv2D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+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MaxPooling2D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Includes:</a:t>
            </a:r>
          </a:p>
          <a:p>
            <a:pPr marL="457200" marR="0" lvl="1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Rescaling(1/255)</a:t>
            </a:r>
          </a:p>
          <a:p>
            <a:pPr marL="457200" marR="0" lvl="1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3 convolution blocks</a:t>
            </a:r>
          </a:p>
          <a:p>
            <a:pPr marL="457200" marR="0" lvl="1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Dense layer + sigmoid output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Purpose: establish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reference performance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787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can of a human brain in a neurology clinic">
            <a:extLst>
              <a:ext uri="{FF2B5EF4-FFF2-40B4-BE49-F238E27FC236}">
                <a16:creationId xmlns:a16="http://schemas.microsoft.com/office/drawing/2014/main" id="{34F3E4DF-42C2-03A2-7541-196C692934A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rcRect t="15907" b="9093"/>
          <a:stretch>
            <a:fillRect/>
          </a:stretch>
        </p:blipFill>
        <p:spPr>
          <a:xfrm>
            <a:off x="9852" y="29506"/>
            <a:ext cx="12191980" cy="685799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8449068A-86B7-CDCC-1080-12D9BBEA42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5" y="1732449"/>
            <a:ext cx="10353762" cy="405875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Improved Model: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Adds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Data Augmentation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RandomFlip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RandomRotation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RandomZoom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marR="0" lvl="1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Simulates variations in real MRI scans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Adds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Dropout layers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(0.3 and 0.5):</a:t>
            </a:r>
          </a:p>
          <a:p>
            <a:pPr marL="457200" marR="0" lvl="1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Reduces overfitting by randomly dropping neurons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Uses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lower learning rate (1e-4)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for smoother convergence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Why these methods?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CNNs are state-of-the-art for medical images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Augmentation + Dropout → better generalization to new patients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Aligns with the goal of safe, real-world clinical use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95457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A6C2C86-63BF-47D5-AA3F-905111A23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719B2D-1000-8CA8-27B9-FD8936868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013" y="1115568"/>
            <a:ext cx="3487616" cy="4626864"/>
          </a:xfrm>
        </p:spPr>
        <p:txBody>
          <a:bodyPr>
            <a:normAutofit/>
          </a:bodyPr>
          <a:lstStyle/>
          <a:p>
            <a:pPr algn="l"/>
            <a:r>
              <a:rPr lang="en-IN" sz="3600" dirty="0"/>
              <a:t>Model Evaluation &amp; Clinical Impact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5A0768-3044-4AA9-A889-D2CAA68C5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605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7F80D6EA-4C57-2380-797D-D26329CD0D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05398" y="864158"/>
            <a:ext cx="6245352" cy="487827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Key Technical Metrics (Improved CNN):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Validation Accuracy: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76%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Precision (Tumor):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78%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Recall (Tumor):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88%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F1-Score (Tumor):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83%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Interpretation for Business &amp; Clinical Use: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High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recall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→ the model detects most tumor cases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This is critical because missing a tumor is high risk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Precision of 78% means most flagged tumor cases are correct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Confusion matrix shows the model is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better at detecting tumors than missing them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which is safer in medical settings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823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405F23C-C82E-4181-95EA-321F3D891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-10650" y="1"/>
            <a:ext cx="4966697" cy="6858000"/>
          </a:xfrm>
          <a:prstGeom prst="rect">
            <a:avLst/>
          </a:prstGeom>
        </p:spPr>
      </p:pic>
      <p:pic>
        <p:nvPicPr>
          <p:cNvPr id="7" name="Graphic 6" descr="Microscope">
            <a:extLst>
              <a:ext uri="{FF2B5EF4-FFF2-40B4-BE49-F238E27FC236}">
                <a16:creationId xmlns:a16="http://schemas.microsoft.com/office/drawing/2014/main" id="{FFEE0409-7B42-3894-6EAA-1EF298AA9F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815" y="1193554"/>
            <a:ext cx="4003193" cy="400319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2997C-1DA1-0762-E18A-35F0FF592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472" y="1828801"/>
            <a:ext cx="5844760" cy="3866048"/>
          </a:xfrm>
        </p:spPr>
        <p:txBody>
          <a:bodyPr anchor="ctr">
            <a:norm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>
                <a:ln>
                  <a:noFill/>
                </a:ln>
                <a:effectLst/>
                <a:latin typeface="Arial" panose="020B0604020202020204" pitchFamily="34" charset="0"/>
              </a:rPr>
              <a:t>Business Impact Example:</a:t>
            </a:r>
            <a:endParaRPr lang="en-US" altLang="en-US" sz="240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>
                <a:ln>
                  <a:noFill/>
                </a:ln>
                <a:effectLst/>
                <a:latin typeface="Arial" panose="020B0604020202020204" pitchFamily="34" charset="0"/>
              </a:rPr>
              <a:t>AI model can handle </a:t>
            </a:r>
            <a:r>
              <a:rPr lang="en-US" altLang="en-US" sz="2400" b="1">
                <a:ln>
                  <a:noFill/>
                </a:ln>
                <a:effectLst/>
                <a:latin typeface="Arial" panose="020B0604020202020204" pitchFamily="34" charset="0"/>
              </a:rPr>
              <a:t>first-pass screening</a:t>
            </a:r>
            <a:r>
              <a:rPr lang="en-US" altLang="en-US" sz="2400">
                <a:ln>
                  <a:noFill/>
                </a:ln>
                <a:effectLst/>
                <a:latin typeface="Arial" panose="020B0604020202020204" pitchFamily="34" charset="0"/>
              </a:rPr>
              <a:t> of MRI scans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>
                <a:ln>
                  <a:noFill/>
                </a:ln>
                <a:effectLst/>
                <a:latin typeface="Arial" panose="020B0604020202020204" pitchFamily="34" charset="0"/>
              </a:rPr>
              <a:t>Radiologists focus first on scans marked high-risk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>
                <a:ln>
                  <a:noFill/>
                </a:ln>
                <a:effectLst/>
                <a:latin typeface="Arial" panose="020B0604020202020204" pitchFamily="34" charset="0"/>
              </a:rPr>
              <a:t>Even a modest reduction in per-scan review time can: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>
                <a:ln>
                  <a:noFill/>
                </a:ln>
                <a:effectLst/>
                <a:latin typeface="Arial" panose="020B0604020202020204" pitchFamily="34" charset="0"/>
              </a:rPr>
              <a:t>Reduce diagnostic delays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>
                <a:ln>
                  <a:noFill/>
                </a:ln>
                <a:effectLst/>
                <a:latin typeface="Arial" panose="020B0604020202020204" pitchFamily="34" charset="0"/>
              </a:rPr>
              <a:t>Improve patient throughput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>
                <a:ln>
                  <a:noFill/>
                </a:ln>
                <a:effectLst/>
                <a:latin typeface="Arial" panose="020B0604020202020204" pitchFamily="34" charset="0"/>
              </a:rPr>
              <a:t>Lower clinician workload and fatigue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4136948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5D1FA-614E-1F37-B5A7-DA84DDBAC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472" y="192701"/>
            <a:ext cx="5844759" cy="97045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100" dirty="0"/>
              <a:t>Summary, Recommendations &amp; Next Steps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405F23C-C82E-4181-95EA-321F3D891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-10650" y="1"/>
            <a:ext cx="4966697" cy="6858000"/>
          </a:xfrm>
          <a:prstGeom prst="rect">
            <a:avLst/>
          </a:prstGeom>
        </p:spPr>
      </p:pic>
      <p:pic>
        <p:nvPicPr>
          <p:cNvPr id="8" name="Graphic 7" descr="Checkmark">
            <a:extLst>
              <a:ext uri="{FF2B5EF4-FFF2-40B4-BE49-F238E27FC236}">
                <a16:creationId xmlns:a16="http://schemas.microsoft.com/office/drawing/2014/main" id="{F45350BF-8842-50FD-E0A8-4B498043A0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815" y="1193554"/>
            <a:ext cx="4003193" cy="4003193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0FEC441F-1B92-F0CE-692B-32D758F53C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79472" y="2552281"/>
            <a:ext cx="5844760" cy="31425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Key Findings (Plain Business Language):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Built an AI model that classifies MRI scans as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Tumor vs No Tumor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Followed full CRISP-DM cycle: business understanding → EDA → modelling → evaluation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Improved CNN model achieved solid performance with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88% tumor recall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Model is most useful as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clinical triage assistant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Recommendations for Hospital / Business Stakeholders: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Use the model as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decision-support tool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not a replacement for radiologists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Prioritize MRI scans flagged as high-risk by the model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Retrain periodically with new MRI data to maintain performance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Monitor real-world performance and adjust thresholds if required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Adopt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“human-in-the-loop”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workflow → AI + radiologist together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3285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405F23C-C82E-4181-95EA-321F3D891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-10650" y="1"/>
            <a:ext cx="4966697" cy="6858000"/>
          </a:xfrm>
          <a:prstGeom prst="rect">
            <a:avLst/>
          </a:prstGeom>
        </p:spPr>
      </p:pic>
      <p:pic>
        <p:nvPicPr>
          <p:cNvPr id="7" name="Graphic 6" descr="DNA">
            <a:extLst>
              <a:ext uri="{FF2B5EF4-FFF2-40B4-BE49-F238E27FC236}">
                <a16:creationId xmlns:a16="http://schemas.microsoft.com/office/drawing/2014/main" id="{F6FAD0E5-4EFF-8280-F0E9-88D11318D0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815" y="1193554"/>
            <a:ext cx="4003193" cy="400319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D1D58-22B4-CCC0-570D-56F828B37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472" y="1828801"/>
            <a:ext cx="5844760" cy="3866048"/>
          </a:xfrm>
        </p:spPr>
        <p:txBody>
          <a:bodyPr anchor="ctr">
            <a:normAutofit lnSpcReduction="10000"/>
          </a:bodyPr>
          <a:lstStyle/>
          <a:p>
            <a:r>
              <a:rPr lang="en-US" b="1" dirty="0"/>
              <a:t>What-If &amp; Future Work:</a:t>
            </a:r>
            <a:endParaRPr lang="en-US" dirty="0"/>
          </a:p>
          <a:p>
            <a:r>
              <a:rPr lang="en-US" dirty="0"/>
              <a:t>With more data, expand to </a:t>
            </a:r>
            <a:r>
              <a:rPr lang="en-US" b="1" dirty="0"/>
              <a:t>multiclass tumor types</a:t>
            </a:r>
            <a:endParaRPr lang="en-US" dirty="0"/>
          </a:p>
          <a:p>
            <a:r>
              <a:rPr lang="en-US" dirty="0"/>
              <a:t>Add </a:t>
            </a:r>
            <a:r>
              <a:rPr lang="en-US" b="1" dirty="0"/>
              <a:t>tumor </a:t>
            </a:r>
            <a:r>
              <a:rPr lang="en-US" sz="2400" b="1" dirty="0"/>
              <a:t>segmentation</a:t>
            </a:r>
            <a:r>
              <a:rPr lang="en-US" dirty="0"/>
              <a:t>, not just classification</a:t>
            </a:r>
          </a:p>
          <a:p>
            <a:r>
              <a:rPr lang="en-US" dirty="0"/>
              <a:t>Use more advanced pretrained models (</a:t>
            </a:r>
            <a:r>
              <a:rPr lang="en-US" dirty="0" err="1"/>
              <a:t>ResNet</a:t>
            </a:r>
            <a:r>
              <a:rPr lang="en-US" dirty="0"/>
              <a:t>, </a:t>
            </a:r>
            <a:r>
              <a:rPr lang="en-US" dirty="0" err="1"/>
              <a:t>EfficientNet</a:t>
            </a:r>
            <a:r>
              <a:rPr lang="en-US" dirty="0"/>
              <a:t>)</a:t>
            </a:r>
          </a:p>
          <a:p>
            <a:r>
              <a:rPr lang="en-US" dirty="0"/>
              <a:t>Integrate </a:t>
            </a:r>
            <a:r>
              <a:rPr lang="en-US" b="1" dirty="0"/>
              <a:t>Grad-CAM heatmaps</a:t>
            </a:r>
            <a:r>
              <a:rPr lang="en-US" dirty="0"/>
              <a:t> for explainable AI</a:t>
            </a:r>
          </a:p>
          <a:p>
            <a:r>
              <a:rPr lang="en-US" dirty="0"/>
              <a:t>Extend from 2D scans to </a:t>
            </a:r>
            <a:r>
              <a:rPr lang="en-US" b="1" dirty="0"/>
              <a:t>3D MRI volumes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96292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405F23C-C82E-4181-95EA-321F3D891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-10650" y="1"/>
            <a:ext cx="4966697" cy="6858000"/>
          </a:xfrm>
          <a:prstGeom prst="rect">
            <a:avLst/>
          </a:prstGeom>
        </p:spPr>
      </p:pic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9E8BD5BA-C1C6-9898-934A-AC30AF8900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815" y="1193554"/>
            <a:ext cx="4003193" cy="400319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6C32C-42BA-6532-96D9-5C9D1C411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472" y="1828801"/>
            <a:ext cx="5844760" cy="3866048"/>
          </a:xfrm>
        </p:spPr>
        <p:txBody>
          <a:bodyPr anchor="ctr">
            <a:normAutofit/>
          </a:bodyPr>
          <a:lstStyle/>
          <a:p>
            <a:pPr marL="36900" indent="0" algn="ctr">
              <a:buNone/>
            </a:pPr>
            <a:r>
              <a:rPr lang="en-IN" sz="8000" dirty="0">
                <a:solidFill>
                  <a:srgbClr val="FF0000"/>
                </a:solidFill>
              </a:rPr>
              <a:t>Thank You</a:t>
            </a:r>
            <a:br>
              <a:rPr lang="en-IN" sz="8000" dirty="0">
                <a:solidFill>
                  <a:srgbClr val="FF0000"/>
                </a:solidFill>
              </a:rPr>
            </a:br>
            <a:r>
              <a:rPr lang="en-IN" sz="8000" dirty="0">
                <a:solidFill>
                  <a:srgbClr val="FF0000"/>
                </a:solidFill>
              </a:rPr>
              <a:t>Q&amp;A?</a:t>
            </a:r>
          </a:p>
        </p:txBody>
      </p:sp>
    </p:spTree>
    <p:extLst>
      <p:ext uri="{BB962C8B-B14F-4D97-AF65-F5344CB8AC3E}">
        <p14:creationId xmlns:p14="http://schemas.microsoft.com/office/powerpoint/2010/main" val="29145636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184</TotalTime>
  <Words>878</Words>
  <Application>Microsoft Office PowerPoint</Application>
  <PresentationFormat>Widescreen</PresentationFormat>
  <Paragraphs>131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Arial Unicode MS</vt:lpstr>
      <vt:lpstr>Calisto MT</vt:lpstr>
      <vt:lpstr>Wingdings 2</vt:lpstr>
      <vt:lpstr>Slate</vt:lpstr>
      <vt:lpstr>Brain Tumor Classification using CNN</vt:lpstr>
      <vt:lpstr>CRISP – DM Framework</vt:lpstr>
      <vt:lpstr>Business Understanding: AI-Assisted Brain Tumor Detection from MRI Scans </vt:lpstr>
      <vt:lpstr>PowerPoint Presentation</vt:lpstr>
      <vt:lpstr>Dataset: Brain MRI Tumor Images (Kaggle)</vt:lpstr>
      <vt:lpstr>PowerPoint Presentation</vt:lpstr>
      <vt:lpstr>Data Cleaning &amp; Exploratory Analysis </vt:lpstr>
      <vt:lpstr>PowerPoint Presentation</vt:lpstr>
      <vt:lpstr>Modelling Approach (Baseline &amp; Improved)</vt:lpstr>
      <vt:lpstr>PowerPoint Presentation</vt:lpstr>
      <vt:lpstr>Model Evaluation &amp; Clinical Impact</vt:lpstr>
      <vt:lpstr>PowerPoint Presentation</vt:lpstr>
      <vt:lpstr>Summary, Recommendations &amp; Next Steps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Harshitha Mallappa</dc:creator>
  <cp:lastModifiedBy>Harshitha Mallappa</cp:lastModifiedBy>
  <cp:revision>10</cp:revision>
  <dcterms:created xsi:type="dcterms:W3CDTF">2025-11-16T03:01:23Z</dcterms:created>
  <dcterms:modified xsi:type="dcterms:W3CDTF">2025-11-16T06:06:01Z</dcterms:modified>
</cp:coreProperties>
</file>